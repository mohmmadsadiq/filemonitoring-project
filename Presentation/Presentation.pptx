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onymous Pro Bold" charset="1" panose="02060809030202000504"/>
      <p:regular r:id="rId24"/>
    </p:embeddedFont>
    <p:embeddedFont>
      <p:font typeface="Cousine Bold" charset="1" panose="02070709020205020404"/>
      <p:regular r:id="rId25"/>
    </p:embeddedFont>
    <p:embeddedFont>
      <p:font typeface="Cousine" charset="1" panose="020704090202050204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9.png" Type="http://schemas.openxmlformats.org/officeDocument/2006/relationships/image"/><Relationship Id="rId17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0.png" Type="http://schemas.openxmlformats.org/officeDocument/2006/relationships/image"/><Relationship Id="rId17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3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30.png" Type="http://schemas.openxmlformats.org/officeDocument/2006/relationships/image"/><Relationship Id="rId17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88263" y="4019588"/>
            <a:ext cx="14911475" cy="2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15"/>
              </a:lnSpc>
            </a:pPr>
            <a:r>
              <a:rPr lang="en-US" b="true" sz="10415" spc="-354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FILE MONITORING SERVICE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227883" y="5926714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82106" y="7535217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8"/>
                </a:lnTo>
                <a:lnTo>
                  <a:pt x="0" y="5869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52676" y="2937023"/>
            <a:ext cx="5582648" cy="52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Presentation</a:t>
            </a: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to: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0793" y="6770263"/>
            <a:ext cx="9746415" cy="65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3783" spc="431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FULL OVERVIEW DEMO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6295093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true" flipV="false" rot="0">
            <a:off x="8855916" y="3102252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1465987" y="0"/>
                </a:moveTo>
                <a:lnTo>
                  <a:pt x="0" y="0"/>
                </a:lnTo>
                <a:lnTo>
                  <a:pt x="0" y="1122146"/>
                </a:lnTo>
                <a:lnTo>
                  <a:pt x="1465987" y="1122146"/>
                </a:lnTo>
                <a:lnTo>
                  <a:pt x="1465987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9096375" y="2954490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1465987" y="0"/>
                </a:moveTo>
                <a:lnTo>
                  <a:pt x="0" y="0"/>
                </a:lnTo>
                <a:lnTo>
                  <a:pt x="0" y="1122146"/>
                </a:lnTo>
                <a:lnTo>
                  <a:pt x="1465987" y="1122146"/>
                </a:lnTo>
                <a:lnTo>
                  <a:pt x="1465987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true" rot="0">
            <a:off x="10562362" y="2402969"/>
            <a:ext cx="2479697" cy="816046"/>
          </a:xfrm>
          <a:custGeom>
            <a:avLst/>
            <a:gdLst/>
            <a:ahLst/>
            <a:cxnLst/>
            <a:rect r="r" b="b" t="t" l="l"/>
            <a:pathLst>
              <a:path h="816046" w="2479697">
                <a:moveTo>
                  <a:pt x="0" y="816045"/>
                </a:moveTo>
                <a:lnTo>
                  <a:pt x="2479697" y="816045"/>
                </a:lnTo>
                <a:lnTo>
                  <a:pt x="2479697" y="0"/>
                </a:lnTo>
                <a:lnTo>
                  <a:pt x="0" y="0"/>
                </a:lnTo>
                <a:lnTo>
                  <a:pt x="0" y="816045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42638" y="4910249"/>
            <a:ext cx="5534722" cy="17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DEFINING A 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55916" y="4346449"/>
            <a:ext cx="7121270" cy="369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lightweight Windows service operates in the background without a user interface, monitoring one or more directories. </a:t>
            </a:r>
          </a:p>
          <a:p>
            <a:pPr algn="just">
              <a:lnSpc>
                <a:spcPts val="3235"/>
              </a:lnSpc>
            </a:pPr>
          </a:p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When a new file or folder is added, it is automatically renamed using a GUID (Globally Unique Identifier) and relocated to the target folder.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6532527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15184" y="3511841"/>
            <a:ext cx="1041281" cy="28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5"/>
              </a:lnSpc>
            </a:pPr>
            <a:r>
              <a:rPr lang="en-US" sz="1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sources</a:t>
            </a:r>
          </a:p>
        </p:txBody>
      </p:sp>
      <p:sp>
        <p:nvSpPr>
          <p:cNvPr name="Freeform 38" id="38"/>
          <p:cNvSpPr/>
          <p:nvPr/>
        </p:nvSpPr>
        <p:spPr>
          <a:xfrm flipH="true" flipV="false" rot="0">
            <a:off x="13146834" y="2954490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1465987" y="0"/>
                </a:moveTo>
                <a:lnTo>
                  <a:pt x="0" y="0"/>
                </a:lnTo>
                <a:lnTo>
                  <a:pt x="0" y="1122146"/>
                </a:lnTo>
                <a:lnTo>
                  <a:pt x="1465987" y="1122146"/>
                </a:lnTo>
                <a:lnTo>
                  <a:pt x="1465987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571540" y="3379407"/>
            <a:ext cx="1041281" cy="56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5"/>
              </a:lnSpc>
            </a:pPr>
            <a:r>
              <a:rPr lang="en-US" sz="1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destination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867117" y="4085630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270323" y="682122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805045" y="3812613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998940" y="4893488"/>
            <a:ext cx="5534722" cy="17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CONFIGURE TO START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444" y="3450363"/>
            <a:ext cx="10403498" cy="446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Before starting the service, you must configure the source, destination, and logging directories. 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Pre-build configurations can be defined in the app.config file. 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At runtime, you can modify these settings via the FileMonitoringService Project 1.exe.config file located in the installation directory. 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If any setting is omitted, the service will automatically apply default values.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6370576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57391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117142" y="4085630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520347" y="682122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055069" y="3812613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31143" y="2862311"/>
            <a:ext cx="8736090" cy="5049634"/>
          </a:xfrm>
          <a:custGeom>
            <a:avLst/>
            <a:gdLst/>
            <a:ahLst/>
            <a:cxnLst/>
            <a:rect r="r" b="b" t="t" l="l"/>
            <a:pathLst>
              <a:path h="5049634" w="8736090">
                <a:moveTo>
                  <a:pt x="0" y="0"/>
                </a:moveTo>
                <a:lnTo>
                  <a:pt x="8736089" y="0"/>
                </a:lnTo>
                <a:lnTo>
                  <a:pt x="8736089" y="5049634"/>
                </a:lnTo>
                <a:lnTo>
                  <a:pt x="0" y="50496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7882" t="-15910" r="-60355" b="-14701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248965" y="4893488"/>
            <a:ext cx="5534722" cy="17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CONFIG EXAMPLE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6295845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2557416"/>
            <a:ext cx="6304436" cy="6304436"/>
          </a:xfrm>
          <a:custGeom>
            <a:avLst/>
            <a:gdLst/>
            <a:ahLst/>
            <a:cxnLst/>
            <a:rect r="r" b="b" t="t" l="l"/>
            <a:pathLst>
              <a:path h="6304436" w="6304436">
                <a:moveTo>
                  <a:pt x="0" y="0"/>
                </a:moveTo>
                <a:lnTo>
                  <a:pt x="6304436" y="0"/>
                </a:lnTo>
                <a:lnTo>
                  <a:pt x="6304436" y="6304436"/>
                </a:lnTo>
                <a:lnTo>
                  <a:pt x="0" y="63044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038580" y="2557416"/>
            <a:ext cx="6636139" cy="6636139"/>
          </a:xfrm>
          <a:custGeom>
            <a:avLst/>
            <a:gdLst/>
            <a:ahLst/>
            <a:cxnLst/>
            <a:rect r="r" b="b" t="t" l="l"/>
            <a:pathLst>
              <a:path h="6636139" w="6636139">
                <a:moveTo>
                  <a:pt x="0" y="0"/>
                </a:moveTo>
                <a:lnTo>
                  <a:pt x="6636139" y="0"/>
                </a:lnTo>
                <a:lnTo>
                  <a:pt x="6636139" y="6636139"/>
                </a:lnTo>
                <a:lnTo>
                  <a:pt x="0" y="6636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0800000">
            <a:off x="7939369" y="4782111"/>
            <a:ext cx="2409262" cy="722779"/>
          </a:xfrm>
          <a:custGeom>
            <a:avLst/>
            <a:gdLst/>
            <a:ahLst/>
            <a:cxnLst/>
            <a:rect r="r" b="b" t="t" l="l"/>
            <a:pathLst>
              <a:path h="722779" w="2409262">
                <a:moveTo>
                  <a:pt x="0" y="0"/>
                </a:moveTo>
                <a:lnTo>
                  <a:pt x="2409262" y="0"/>
                </a:lnTo>
                <a:lnTo>
                  <a:pt x="2409262" y="722778"/>
                </a:lnTo>
                <a:lnTo>
                  <a:pt x="0" y="722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7483" y="2538366"/>
            <a:ext cx="5352613" cy="631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</a:p>
          <a:p>
            <a:pPr algn="just" marL="515691" indent="-257845" lvl="1">
              <a:lnSpc>
                <a:spcPts val="2985"/>
              </a:lnSpc>
              <a:buAutoNum type="arabicPeriod" startAt="1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Op</a:t>
            </a: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en FileMonitoringService Project 1.sln in Visual Studio.</a:t>
            </a:r>
          </a:p>
          <a:p>
            <a:pPr algn="just" marL="515691" indent="-257845" lvl="1">
              <a:lnSpc>
                <a:spcPts val="2985"/>
              </a:lnSpc>
              <a:buAutoNum type="arabicPeriod" startAt="1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Select the appropriate build configuration: Debug (for local testing) or Release (for deployment).</a:t>
            </a:r>
          </a:p>
          <a:p>
            <a:pPr algn="just" marL="515691" indent="-257845" lvl="1">
              <a:lnSpc>
                <a:spcPts val="2985"/>
              </a:lnSpc>
              <a:buAutoNum type="arabicPeriod" startAt="1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Navigate to Build &gt; Build Solution to compile the project.</a:t>
            </a:r>
          </a:p>
          <a:p>
            <a:pPr algn="just" marL="515691" indent="-257845" lvl="1">
              <a:lnSpc>
                <a:spcPts val="2985"/>
              </a:lnSpc>
              <a:buAutoNum type="arabicPeriod" startAt="1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After a successful build, both the executable and the configuration file will be located in (bin\Debug||bin\Release).</a:t>
            </a:r>
          </a:p>
          <a:p>
            <a:pPr algn="just">
              <a:lnSpc>
                <a:spcPts val="2985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8029273" y="2538366"/>
            <a:ext cx="2644874" cy="74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How To  Build The Project?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42717" y="4035278"/>
            <a:ext cx="2217985" cy="74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388">
                <a:solidFill>
                  <a:srgbClr val="0057CC"/>
                </a:solidFill>
                <a:latin typeface="Cousine"/>
                <a:ea typeface="Cousine"/>
                <a:cs typeface="Cousine"/>
                <a:sym typeface="Cousine"/>
              </a:rPr>
              <a:t>Using Visual Studio</a:t>
            </a:r>
          </a:p>
        </p:txBody>
      </p:sp>
      <p:sp>
        <p:nvSpPr>
          <p:cNvPr name="Freeform 35" id="35"/>
          <p:cNvSpPr/>
          <p:nvPr/>
        </p:nvSpPr>
        <p:spPr>
          <a:xfrm flipH="true" flipV="false" rot="-10800000">
            <a:off x="7939369" y="6870411"/>
            <a:ext cx="2409262" cy="722779"/>
          </a:xfrm>
          <a:custGeom>
            <a:avLst/>
            <a:gdLst/>
            <a:ahLst/>
            <a:cxnLst/>
            <a:rect r="r" b="b" t="t" l="l"/>
            <a:pathLst>
              <a:path h="722779" w="2409262">
                <a:moveTo>
                  <a:pt x="2409262" y="0"/>
                </a:moveTo>
                <a:lnTo>
                  <a:pt x="0" y="0"/>
                </a:lnTo>
                <a:lnTo>
                  <a:pt x="0" y="722778"/>
                </a:lnTo>
                <a:lnTo>
                  <a:pt x="2409262" y="722778"/>
                </a:lnTo>
                <a:lnTo>
                  <a:pt x="240926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029273" y="6055024"/>
            <a:ext cx="2225436" cy="74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388">
                <a:solidFill>
                  <a:srgbClr val="0057CC"/>
                </a:solidFill>
                <a:latin typeface="Cousine"/>
                <a:ea typeface="Cousine"/>
                <a:cs typeface="Cousine"/>
                <a:sym typeface="Cousine"/>
              </a:rPr>
              <a:t>from the comma</a:t>
            </a:r>
            <a:r>
              <a:rPr lang="en-US" sz="2388">
                <a:solidFill>
                  <a:srgbClr val="0057CC"/>
                </a:solidFill>
                <a:latin typeface="Cousine"/>
                <a:ea typeface="Cousine"/>
                <a:cs typeface="Cousine"/>
                <a:sym typeface="Cousine"/>
              </a:rPr>
              <a:t>nd line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79021" y="2874598"/>
            <a:ext cx="5722701" cy="631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Op</a:t>
            </a: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en the Developer Command Prompt for Visual Studio as an Administrator.</a:t>
            </a:r>
          </a:p>
          <a:p>
            <a:pPr algn="just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Navigat</a:t>
            </a: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e to the project directory.</a:t>
            </a:r>
          </a:p>
          <a:p>
            <a:pPr algn="just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Execute the following command: dotnet build "FileMonitoringService Project 1.sln" -c Release</a:t>
            </a:r>
          </a:p>
          <a:p>
            <a:pPr algn="just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I</a:t>
            </a:r>
            <a:r>
              <a:rPr lang="en-US" b="true" sz="23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ousine Bold"/>
                <a:ea typeface="Cousine Bold"/>
                <a:cs typeface="Cousine Bold"/>
                <a:sym typeface="Cousine Bold"/>
              </a:rPr>
              <a:t>f the primary build fails, use MSBuild as a fallback: msbuild "FileMonitoringService Project 1.sln" /p:Configuration=Release /p:Platform=AnyCPU</a:t>
            </a:r>
          </a:p>
          <a:p>
            <a:pPr algn="just">
              <a:lnSpc>
                <a:spcPts val="298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3213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1783882" y="2572854"/>
            <a:ext cx="4023329" cy="4023329"/>
          </a:xfrm>
          <a:custGeom>
            <a:avLst/>
            <a:gdLst/>
            <a:ahLst/>
            <a:cxnLst/>
            <a:rect r="r" b="b" t="t" l="l"/>
            <a:pathLst>
              <a:path h="4023329" w="4023329">
                <a:moveTo>
                  <a:pt x="0" y="0"/>
                </a:moveTo>
                <a:lnTo>
                  <a:pt x="4023329" y="0"/>
                </a:lnTo>
                <a:lnTo>
                  <a:pt x="4023329" y="4023329"/>
                </a:lnTo>
                <a:lnTo>
                  <a:pt x="0" y="4023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83544" y="3087575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79551" y="2963352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83181" y="5938038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744628" y="3604332"/>
            <a:ext cx="4158988" cy="166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b="true" sz="5000" spc="-170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USING SETUP PROJECT (MSI):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03458" y="4139727"/>
            <a:ext cx="5263340" cy="138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SERVICE DEPLOYMENT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551866" y="5379367"/>
            <a:ext cx="3599742" cy="3599742"/>
          </a:xfrm>
          <a:custGeom>
            <a:avLst/>
            <a:gdLst/>
            <a:ahLst/>
            <a:cxnLst/>
            <a:rect r="r" b="b" t="t" l="l"/>
            <a:pathLst>
              <a:path h="3599742" w="3599742">
                <a:moveTo>
                  <a:pt x="0" y="0"/>
                </a:moveTo>
                <a:lnTo>
                  <a:pt x="3599742" y="0"/>
                </a:lnTo>
                <a:lnTo>
                  <a:pt x="3599742" y="3599742"/>
                </a:lnTo>
                <a:lnTo>
                  <a:pt x="0" y="35997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272243" y="6235999"/>
            <a:ext cx="4158988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b="true" sz="5000" spc="-170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USING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97040" y="6962089"/>
            <a:ext cx="3460465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 spc="232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n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allU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il: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466591" y="7639571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98170" y="2796592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1680783" y="3058852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USING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22254" y="2458537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4"/>
                </a:lnTo>
                <a:lnTo>
                  <a:pt x="0" y="1132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585683" y="4513426"/>
            <a:ext cx="10455375" cy="425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1. Install the Service</a:t>
            </a:r>
          </a:p>
          <a:p>
            <a:pPr algn="just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64-bit / 32-bit: Run InstallUtil.exe followed by your executable path.</a:t>
            </a:r>
          </a:p>
          <a:p>
            <a:pPr algn="just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InstallUt</a:t>
            </a: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il.exe "&lt;Path_to_Executable&gt;.exe"</a:t>
            </a:r>
          </a:p>
          <a:p>
            <a:pPr algn="just">
              <a:lnSpc>
                <a:spcPts val="3235"/>
              </a:lnSpc>
            </a:pPr>
            <a:r>
              <a:rPr lang="en-US" sz="25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2. Control the Service</a:t>
            </a:r>
          </a:p>
          <a:p>
            <a:pPr algn="just" marL="516002" indent="-258001" lvl="1">
              <a:lnSpc>
                <a:spcPts val="2987"/>
              </a:lnSpc>
              <a:buFont typeface="Arial"/>
              <a:buChar char="•"/>
            </a:pPr>
            <a:r>
              <a:rPr lang="en-US" sz="239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Start: net start Service1 Or sc start Service1</a:t>
            </a:r>
          </a:p>
          <a:p>
            <a:pPr algn="just" marL="516002" indent="-258001" lvl="1">
              <a:lnSpc>
                <a:spcPts val="2987"/>
              </a:lnSpc>
              <a:buFont typeface="Arial"/>
              <a:buChar char="•"/>
            </a:pPr>
            <a:r>
              <a:rPr lang="en-US" sz="239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Stop: net stop Service1 Or sc stop Service1</a:t>
            </a:r>
          </a:p>
          <a:p>
            <a:pPr algn="just">
              <a:lnSpc>
                <a:spcPts val="3235"/>
              </a:lnSpc>
            </a:pPr>
            <a:r>
              <a:rPr lang="en-US" sz="25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3. Uninstall the Service</a:t>
            </a:r>
          </a:p>
          <a:p>
            <a:pPr algn="just" marL="516002" indent="-258001" lvl="1">
              <a:lnSpc>
                <a:spcPts val="2987"/>
              </a:lnSpc>
              <a:buFont typeface="Arial"/>
              <a:buChar char="•"/>
            </a:pPr>
            <a:r>
              <a:rPr lang="en-US" sz="239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Note: Always stop the service before uninstalling.</a:t>
            </a:r>
          </a:p>
          <a:p>
            <a:pPr algn="just" marL="516002" indent="-258001" lvl="1">
              <a:lnSpc>
                <a:spcPts val="2987"/>
              </a:lnSpc>
              <a:buFont typeface="Arial"/>
              <a:buChar char="•"/>
            </a:pPr>
            <a:r>
              <a:rPr lang="en-US" sz="239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InstallUtil.exe /u "&lt;Path_to_Executable&gt;.exe"</a:t>
            </a:r>
          </a:p>
          <a:p>
            <a:pPr algn="just">
              <a:lnSpc>
                <a:spcPts val="3235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22206" y="3640826"/>
            <a:ext cx="3460465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 spc="232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n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allU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</a:t>
            </a:r>
            <a:r>
              <a:rPr lang="en-US" b="true" sz="3099" spc="23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il: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466591" y="7639571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98170" y="2796592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1680783" y="3058852"/>
            <a:ext cx="6949975" cy="122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SING SETUP PROJECT (MSI):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22254" y="2458537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4"/>
                </a:lnTo>
                <a:lnTo>
                  <a:pt x="0" y="1132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34041" y="5160385"/>
            <a:ext cx="12932550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Install: Run the .msi f</a:t>
            </a: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ile and follow the wizard.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Manage: Start/Stop the service via Command Line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Uninstall: Remove via Windows Control Panel.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71781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411857" y="3243892"/>
            <a:ext cx="5245788" cy="2794574"/>
          </a:xfrm>
          <a:custGeom>
            <a:avLst/>
            <a:gdLst/>
            <a:ahLst/>
            <a:cxnLst/>
            <a:rect r="r" b="b" t="t" l="l"/>
            <a:pathLst>
              <a:path h="2794574" w="5245788">
                <a:moveTo>
                  <a:pt x="0" y="0"/>
                </a:moveTo>
                <a:lnTo>
                  <a:pt x="5245789" y="0"/>
                </a:lnTo>
                <a:lnTo>
                  <a:pt x="5245789" y="2794574"/>
                </a:lnTo>
                <a:lnTo>
                  <a:pt x="0" y="2794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600219" y="3516893"/>
            <a:ext cx="4869065" cy="236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UNDER THE HOOD: </a:t>
            </a:r>
          </a:p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SYS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TEM ARCHITECTURE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36192" y="2860038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45952" y="6514746"/>
            <a:ext cx="4759816" cy="891384"/>
          </a:xfrm>
          <a:custGeom>
            <a:avLst/>
            <a:gdLst/>
            <a:ahLst/>
            <a:cxnLst/>
            <a:rect r="r" b="b" t="t" l="l"/>
            <a:pathLst>
              <a:path h="891384" w="4759816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494861" y="3815663"/>
            <a:ext cx="2640953" cy="4114800"/>
          </a:xfrm>
          <a:custGeom>
            <a:avLst/>
            <a:gdLst/>
            <a:ahLst/>
            <a:cxnLst/>
            <a:rect r="r" b="b" t="t" l="l"/>
            <a:pathLst>
              <a:path h="4114800" w="2640953">
                <a:moveTo>
                  <a:pt x="0" y="0"/>
                </a:moveTo>
                <a:lnTo>
                  <a:pt x="2640953" y="0"/>
                </a:lnTo>
                <a:lnTo>
                  <a:pt x="2640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5038"/>
            <a:chOff x="0" y="0"/>
            <a:chExt cx="4601210" cy="1987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210" cy="1987169"/>
            </a:xfrm>
            <a:custGeom>
              <a:avLst/>
              <a:gdLst/>
              <a:ahLst/>
              <a:cxnLst/>
              <a:rect r="r" b="b" t="t" l="l"/>
              <a:pathLst>
                <a:path h="1987169" w="4601210">
                  <a:moveTo>
                    <a:pt x="4601210" y="0"/>
                  </a:moveTo>
                  <a:lnTo>
                    <a:pt x="4601210" y="1987169"/>
                  </a:lnTo>
                  <a:lnTo>
                    <a:pt x="0" y="1987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210" cy="2034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86508" y="2557416"/>
            <a:ext cx="7536703" cy="1630669"/>
          </a:xfrm>
          <a:custGeom>
            <a:avLst/>
            <a:gdLst/>
            <a:ahLst/>
            <a:cxnLst/>
            <a:rect r="r" b="b" t="t" l="l"/>
            <a:pathLst>
              <a:path h="1630669" w="7536703">
                <a:moveTo>
                  <a:pt x="0" y="0"/>
                </a:moveTo>
                <a:lnTo>
                  <a:pt x="7536704" y="0"/>
                </a:lnTo>
                <a:lnTo>
                  <a:pt x="7536704" y="1630669"/>
                </a:lnTo>
                <a:lnTo>
                  <a:pt x="0" y="16306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7854235" y="364272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04261" y="2843639"/>
            <a:ext cx="6949975" cy="122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BUILT WITH ROBUST TECHNOLOGIES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7785" y="4281295"/>
            <a:ext cx="15050486" cy="523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Language: C#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Framework: .NET (W</a:t>
            </a: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indows Service)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Configuration: XML-based App.config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File management: System.IO (For comprehensive file management)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Core Engine: Uses FileSystemWatcher for real-time directory monitoring with minimal resource consumption.</a:t>
            </a:r>
          </a:p>
          <a:p>
            <a:pPr algn="l">
              <a:lnSpc>
                <a:spcPts val="375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6599" y="1397585"/>
            <a:ext cx="17470132" cy="8889415"/>
            <a:chOff x="0" y="0"/>
            <a:chExt cx="4601187" cy="23412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341245"/>
            </a:xfrm>
            <a:custGeom>
              <a:avLst/>
              <a:gdLst/>
              <a:ahLst/>
              <a:cxnLst/>
              <a:rect r="r" b="b" t="t" l="l"/>
              <a:pathLst>
                <a:path h="2341245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341245"/>
                  </a:lnTo>
                  <a:lnTo>
                    <a:pt x="0" y="234124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3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634020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6599" y="9634020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634020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401905" y="9746802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746802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661786" y="9634020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27228" y="1397585"/>
            <a:ext cx="15112725" cy="8236435"/>
          </a:xfrm>
          <a:custGeom>
            <a:avLst/>
            <a:gdLst/>
            <a:ahLst/>
            <a:cxnLst/>
            <a:rect r="r" b="b" t="t" l="l"/>
            <a:pathLst>
              <a:path h="8236435" w="15112725">
                <a:moveTo>
                  <a:pt x="0" y="0"/>
                </a:moveTo>
                <a:lnTo>
                  <a:pt x="15112725" y="0"/>
                </a:lnTo>
                <a:lnTo>
                  <a:pt x="15112725" y="8236435"/>
                </a:lnTo>
                <a:lnTo>
                  <a:pt x="0" y="8236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44174" y="1540958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926787" y="1803218"/>
            <a:ext cx="6949975" cy="122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SY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STEM ARCHITECTURE DIAGRAM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497"/>
            <a:ext cx="17470132" cy="7545038"/>
            <a:chOff x="0" y="0"/>
            <a:chExt cx="4601210" cy="1987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210" cy="1987169"/>
            </a:xfrm>
            <a:custGeom>
              <a:avLst/>
              <a:gdLst/>
              <a:ahLst/>
              <a:cxnLst/>
              <a:rect r="r" b="b" t="t" l="l"/>
              <a:pathLst>
                <a:path h="1987169" w="4601210">
                  <a:moveTo>
                    <a:pt x="4601210" y="0"/>
                  </a:moveTo>
                  <a:lnTo>
                    <a:pt x="4601210" y="1987169"/>
                  </a:lnTo>
                  <a:lnTo>
                    <a:pt x="0" y="1987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210" cy="2034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86508" y="2557416"/>
            <a:ext cx="7536703" cy="1630669"/>
          </a:xfrm>
          <a:custGeom>
            <a:avLst/>
            <a:gdLst/>
            <a:ahLst/>
            <a:cxnLst/>
            <a:rect r="r" b="b" t="t" l="l"/>
            <a:pathLst>
              <a:path h="1630669" w="7536703">
                <a:moveTo>
                  <a:pt x="0" y="0"/>
                </a:moveTo>
                <a:lnTo>
                  <a:pt x="7536704" y="0"/>
                </a:lnTo>
                <a:lnTo>
                  <a:pt x="7536704" y="1630669"/>
                </a:lnTo>
                <a:lnTo>
                  <a:pt x="0" y="16306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7854235" y="364272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44186" y="3768401"/>
            <a:ext cx="4606306" cy="4723035"/>
          </a:xfrm>
          <a:custGeom>
            <a:avLst/>
            <a:gdLst/>
            <a:ahLst/>
            <a:cxnLst/>
            <a:rect r="r" b="b" t="t" l="l"/>
            <a:pathLst>
              <a:path h="4723035" w="4606306">
                <a:moveTo>
                  <a:pt x="0" y="0"/>
                </a:moveTo>
                <a:lnTo>
                  <a:pt x="4606305" y="0"/>
                </a:lnTo>
                <a:lnTo>
                  <a:pt x="4606305" y="4723034"/>
                </a:lnTo>
                <a:lnTo>
                  <a:pt x="0" y="47230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04261" y="2843639"/>
            <a:ext cx="6949975" cy="122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INSIDE THE RUNTIME HOST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7785" y="4714398"/>
            <a:ext cx="12584603" cy="476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File Monitoring Service: </a:t>
            </a:r>
            <a:r>
              <a:rPr lang="en-US" sz="30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Inherits from ServiceBase. Acts as the ma</a:t>
            </a:r>
            <a:r>
              <a:rPr lang="en-US" sz="30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 orchestrator connecting components.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Configuration Service: </a:t>
            </a:r>
            <a:r>
              <a:rPr lang="en-US" sz="30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Dynamically parses App.config to fetch source, destination, and log paths.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App Logger: </a:t>
            </a:r>
            <a:r>
              <a:rPr lang="en-US" sz="30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dedicated class for writing detailed execution steps and errors to the physical Log Folder.</a:t>
            </a:r>
          </a:p>
          <a:p>
            <a:pPr algn="l">
              <a:lnSpc>
                <a:spcPts val="375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497"/>
            <a:ext cx="17470132" cy="7545038"/>
            <a:chOff x="0" y="0"/>
            <a:chExt cx="4601210" cy="1987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210" cy="1987169"/>
            </a:xfrm>
            <a:custGeom>
              <a:avLst/>
              <a:gdLst/>
              <a:ahLst/>
              <a:cxnLst/>
              <a:rect r="r" b="b" t="t" l="l"/>
              <a:pathLst>
                <a:path h="1987169" w="4601210">
                  <a:moveTo>
                    <a:pt x="4601210" y="0"/>
                  </a:moveTo>
                  <a:lnTo>
                    <a:pt x="4601210" y="1987169"/>
                  </a:lnTo>
                  <a:lnTo>
                    <a:pt x="0" y="1987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210" cy="2034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86508" y="2557416"/>
            <a:ext cx="7536703" cy="1630669"/>
          </a:xfrm>
          <a:custGeom>
            <a:avLst/>
            <a:gdLst/>
            <a:ahLst/>
            <a:cxnLst/>
            <a:rect r="r" b="b" t="t" l="l"/>
            <a:pathLst>
              <a:path h="1630669" w="7536703">
                <a:moveTo>
                  <a:pt x="0" y="0"/>
                </a:moveTo>
                <a:lnTo>
                  <a:pt x="7536704" y="0"/>
                </a:lnTo>
                <a:lnTo>
                  <a:pt x="7536704" y="1630669"/>
                </a:lnTo>
                <a:lnTo>
                  <a:pt x="0" y="16306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584530" y="4431055"/>
            <a:ext cx="17118941" cy="523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We utilize the FileSystemWatcher class for real-time, low-resource monitoring.</a:t>
            </a:r>
          </a:p>
          <a:p>
            <a:pPr algn="l">
              <a:lnSpc>
                <a:spcPts val="3750"/>
              </a:lnSpc>
            </a:pPr>
          </a:p>
          <a:p>
            <a:pPr algn="l" marL="1295400" indent="-431800" lvl="2">
              <a:lnSpc>
                <a:spcPts val="375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Trigger: Listens strictly for the Created event in the S</a:t>
            </a: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ource Folders.</a:t>
            </a:r>
          </a:p>
          <a:p>
            <a:pPr algn="l" marL="1295400" indent="-431800" lvl="2">
              <a:lnSpc>
                <a:spcPts val="375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Stability Check: Implements a retry mechanism to ensure the file is completely written and unlocked by the OS before processing.</a:t>
            </a:r>
          </a:p>
          <a:p>
            <a:pPr algn="l" marL="1295400" indent="-431800" lvl="2">
              <a:lnSpc>
                <a:spcPts val="375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Transformation: Renames the file using a generated GUID to guarantee zero naming collisions.</a:t>
            </a:r>
          </a:p>
          <a:p>
            <a:pPr algn="l" marL="1295400" indent="-431800" lvl="2">
              <a:lnSpc>
                <a:spcPts val="375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Execution: Moves the renamed file safely to the Destination Folder.</a:t>
            </a:r>
          </a:p>
          <a:p>
            <a:pPr algn="l">
              <a:lnSpc>
                <a:spcPts val="3750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012931" y="4992874"/>
            <a:ext cx="11352075" cy="669691"/>
          </a:xfrm>
          <a:custGeom>
            <a:avLst/>
            <a:gdLst/>
            <a:ahLst/>
            <a:cxnLst/>
            <a:rect r="r" b="b" t="t" l="l"/>
            <a:pathLst>
              <a:path h="669691" w="11352075">
                <a:moveTo>
                  <a:pt x="0" y="0"/>
                </a:moveTo>
                <a:lnTo>
                  <a:pt x="11352075" y="0"/>
                </a:lnTo>
                <a:lnTo>
                  <a:pt x="11352075" y="669691"/>
                </a:lnTo>
                <a:lnTo>
                  <a:pt x="0" y="6696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04261" y="2843639"/>
            <a:ext cx="6949975" cy="122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THE SYSTEM HEART: FILESYSTEMWATCHER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6599" y="1397585"/>
            <a:ext cx="17470132" cy="8889415"/>
            <a:chOff x="0" y="0"/>
            <a:chExt cx="4601187" cy="23412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341245"/>
            </a:xfrm>
            <a:custGeom>
              <a:avLst/>
              <a:gdLst/>
              <a:ahLst/>
              <a:cxnLst/>
              <a:rect r="r" b="b" t="t" l="l"/>
              <a:pathLst>
                <a:path h="2341245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341245"/>
                  </a:lnTo>
                  <a:lnTo>
                    <a:pt x="0" y="234124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3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634020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6599" y="9634020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634020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401905" y="9746802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746802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661786" y="9634020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27228" y="1397585"/>
            <a:ext cx="15112725" cy="8236435"/>
          </a:xfrm>
          <a:custGeom>
            <a:avLst/>
            <a:gdLst/>
            <a:ahLst/>
            <a:cxnLst/>
            <a:rect r="r" b="b" t="t" l="l"/>
            <a:pathLst>
              <a:path h="8236435" w="15112725">
                <a:moveTo>
                  <a:pt x="0" y="0"/>
                </a:moveTo>
                <a:lnTo>
                  <a:pt x="15112725" y="0"/>
                </a:lnTo>
                <a:lnTo>
                  <a:pt x="15112725" y="8236435"/>
                </a:lnTo>
                <a:lnTo>
                  <a:pt x="0" y="8236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44174" y="1540958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926787" y="1803218"/>
            <a:ext cx="6949975" cy="122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SY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STEM ARCHITECTURE DIAGRAM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32975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841544" y="2860996"/>
            <a:ext cx="5027291" cy="2678175"/>
          </a:xfrm>
          <a:custGeom>
            <a:avLst/>
            <a:gdLst/>
            <a:ahLst/>
            <a:cxnLst/>
            <a:rect r="r" b="b" t="t" l="l"/>
            <a:pathLst>
              <a:path h="2678175" w="5027291">
                <a:moveTo>
                  <a:pt x="0" y="0"/>
                </a:moveTo>
                <a:lnTo>
                  <a:pt x="5027291" y="0"/>
                </a:lnTo>
                <a:lnTo>
                  <a:pt x="5027291" y="2678176"/>
                </a:lnTo>
                <a:lnTo>
                  <a:pt x="0" y="26781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023085" y="3385222"/>
            <a:ext cx="4578275" cy="179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 CHALLENGE: RUNNING BLIND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347382" y="2576426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419165" y="2576426"/>
            <a:ext cx="2962746" cy="2962746"/>
          </a:xfrm>
          <a:custGeom>
            <a:avLst/>
            <a:gdLst/>
            <a:ahLst/>
            <a:cxnLst/>
            <a:rect r="r" b="b" t="t" l="l"/>
            <a:pathLst>
              <a:path h="2962746" w="2962746">
                <a:moveTo>
                  <a:pt x="0" y="0"/>
                </a:moveTo>
                <a:lnTo>
                  <a:pt x="2962745" y="0"/>
                </a:lnTo>
                <a:lnTo>
                  <a:pt x="2962745" y="2962746"/>
                </a:lnTo>
                <a:lnTo>
                  <a:pt x="0" y="29627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352154" y="6272597"/>
            <a:ext cx="11583692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Windows Services run entirely in the ba</a:t>
            </a: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ckground without a User Interface (UI).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Without logs, tracking system behavior or diagnosing failures is impossible.</a:t>
            </a:r>
          </a:p>
          <a:p>
            <a:pPr algn="just">
              <a:lnSpc>
                <a:spcPts val="3124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183053" y="3815663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365666" y="4347950"/>
            <a:ext cx="6949975" cy="55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9"/>
              </a:lnSpc>
            </a:pPr>
            <a:r>
              <a:rPr lang="en-US" b="true" sz="4599" spc="-15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THE S</a:t>
            </a:r>
            <a:r>
              <a:rPr lang="en-US" b="true" sz="4599" spc="-15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OLUTION: APPLOGGER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177976" y="485304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654311" y="3477608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166258" y="3815663"/>
            <a:ext cx="2640953" cy="4114800"/>
          </a:xfrm>
          <a:custGeom>
            <a:avLst/>
            <a:gdLst/>
            <a:ahLst/>
            <a:cxnLst/>
            <a:rect r="r" b="b" t="t" l="l"/>
            <a:pathLst>
              <a:path h="4114800" w="2640953">
                <a:moveTo>
                  <a:pt x="0" y="0"/>
                </a:moveTo>
                <a:lnTo>
                  <a:pt x="2640953" y="0"/>
                </a:lnTo>
                <a:lnTo>
                  <a:pt x="2640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891947" y="5965138"/>
            <a:ext cx="9019553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Acts as the "eyes and ears" of the system, a</a:t>
            </a: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cting like a black box recorder.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Writes real-time activities to physical log files for easy monitoring.</a:t>
            </a:r>
          </a:p>
          <a:p>
            <a:pPr algn="just">
              <a:lnSpc>
                <a:spcPts val="3124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84087" y="2557416"/>
            <a:ext cx="8046484" cy="1740967"/>
          </a:xfrm>
          <a:custGeom>
            <a:avLst/>
            <a:gdLst/>
            <a:ahLst/>
            <a:cxnLst/>
            <a:rect r="r" b="b" t="t" l="l"/>
            <a:pathLst>
              <a:path h="1740967" w="8046484">
                <a:moveTo>
                  <a:pt x="0" y="0"/>
                </a:moveTo>
                <a:lnTo>
                  <a:pt x="8046485" y="0"/>
                </a:lnTo>
                <a:lnTo>
                  <a:pt x="8046485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8906786" y="4221511"/>
            <a:ext cx="8796242" cy="3705127"/>
          </a:xfrm>
          <a:custGeom>
            <a:avLst/>
            <a:gdLst/>
            <a:ahLst/>
            <a:cxnLst/>
            <a:rect r="r" b="b" t="t" l="l"/>
            <a:pathLst>
              <a:path h="3705127" w="8796242">
                <a:moveTo>
                  <a:pt x="0" y="0"/>
                </a:moveTo>
                <a:lnTo>
                  <a:pt x="8796242" y="0"/>
                </a:lnTo>
                <a:lnTo>
                  <a:pt x="8796242" y="3705126"/>
                </a:lnTo>
                <a:lnTo>
                  <a:pt x="0" y="37051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9998" t="-24923" r="-87235" b="-2433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6508" y="2951725"/>
            <a:ext cx="7403531" cy="11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INSIDE</a:t>
            </a: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OUR LOG FILES (AS SEEN IN THE IMAGE)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4727008"/>
            <a:ext cx="8162612" cy="352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Timestamps: Pinpoints exactly when an event occurre</a:t>
            </a: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Severity Levels: Categorizes events as [INFO], [WARN], or [ERROR].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Traceability: Tracks successful file moves and captures specific exceptions (e.g., UnauthorizedAccessException) for quick debugging.</a:t>
            </a:r>
          </a:p>
          <a:p>
            <a:pPr algn="just">
              <a:lnSpc>
                <a:spcPts val="3124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705725" y="7497711"/>
            <a:ext cx="4334804" cy="937894"/>
          </a:xfrm>
          <a:custGeom>
            <a:avLst/>
            <a:gdLst/>
            <a:ahLst/>
            <a:cxnLst/>
            <a:rect r="r" b="b" t="t" l="l"/>
            <a:pathLst>
              <a:path h="937894" w="4334804">
                <a:moveTo>
                  <a:pt x="0" y="0"/>
                </a:moveTo>
                <a:lnTo>
                  <a:pt x="4334804" y="0"/>
                </a:lnTo>
                <a:lnTo>
                  <a:pt x="4334804" y="937894"/>
                </a:lnTo>
                <a:lnTo>
                  <a:pt x="0" y="937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745221" y="7497711"/>
            <a:ext cx="4334804" cy="937894"/>
          </a:xfrm>
          <a:custGeom>
            <a:avLst/>
            <a:gdLst/>
            <a:ahLst/>
            <a:cxnLst/>
            <a:rect r="r" b="b" t="t" l="l"/>
            <a:pathLst>
              <a:path h="937894" w="4334804">
                <a:moveTo>
                  <a:pt x="0" y="0"/>
                </a:moveTo>
                <a:lnTo>
                  <a:pt x="4334804" y="0"/>
                </a:lnTo>
                <a:lnTo>
                  <a:pt x="4334804" y="937894"/>
                </a:lnTo>
                <a:lnTo>
                  <a:pt x="0" y="937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5829628" y="8094415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129414" y="7729610"/>
            <a:ext cx="470340" cy="401072"/>
          </a:xfrm>
          <a:custGeom>
            <a:avLst/>
            <a:gdLst/>
            <a:ahLst/>
            <a:cxnLst/>
            <a:rect r="r" b="b" t="t" l="l"/>
            <a:pathLst>
              <a:path h="401072" w="470340">
                <a:moveTo>
                  <a:pt x="0" y="0"/>
                </a:moveTo>
                <a:lnTo>
                  <a:pt x="470340" y="0"/>
                </a:lnTo>
                <a:lnTo>
                  <a:pt x="470340" y="401072"/>
                </a:lnTo>
                <a:lnTo>
                  <a:pt x="0" y="4010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225473" y="7497711"/>
            <a:ext cx="4334804" cy="937894"/>
          </a:xfrm>
          <a:custGeom>
            <a:avLst/>
            <a:gdLst/>
            <a:ahLst/>
            <a:cxnLst/>
            <a:rect r="r" b="b" t="t" l="l"/>
            <a:pathLst>
              <a:path h="937894" w="4334804">
                <a:moveTo>
                  <a:pt x="0" y="0"/>
                </a:moveTo>
                <a:lnTo>
                  <a:pt x="4334804" y="0"/>
                </a:lnTo>
                <a:lnTo>
                  <a:pt x="4334804" y="937894"/>
                </a:lnTo>
                <a:lnTo>
                  <a:pt x="0" y="937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3886673" y="3079704"/>
            <a:ext cx="1021143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 spc="-339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THANKS FOR WHATCHING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790841" y="7655484"/>
            <a:ext cx="549324" cy="549324"/>
          </a:xfrm>
          <a:custGeom>
            <a:avLst/>
            <a:gdLst/>
            <a:ahLst/>
            <a:cxnLst/>
            <a:rect r="r" b="b" t="t" l="l"/>
            <a:pathLst>
              <a:path h="549324" w="549324">
                <a:moveTo>
                  <a:pt x="0" y="0"/>
                </a:moveTo>
                <a:lnTo>
                  <a:pt x="549324" y="0"/>
                </a:lnTo>
                <a:lnTo>
                  <a:pt x="549324" y="549324"/>
                </a:lnTo>
                <a:lnTo>
                  <a:pt x="0" y="54932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03203" y="7773740"/>
            <a:ext cx="43373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mohmmadsadiq2030@gmail.com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505775" y="5683695"/>
            <a:ext cx="9430986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QUESTIONS &amp; SUGGESTIONS?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02358" y="6522201"/>
            <a:ext cx="1088328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b="true" sz="3000" spc="-10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IF YOU HAVE QUESTIONS, FEEDBACK, OR IDEAS FOR IMPROVEMENT CONTACT ME.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25518" y="7796795"/>
            <a:ext cx="3081693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@mohammed-al-shaepi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59728" y="7796795"/>
            <a:ext cx="232261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@MohmmadSadiq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4087" y="644177"/>
            <a:ext cx="641418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Mohammed Sadiq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DAHGfpKJdHU</dc:identifier>
  <dcterms:modified xsi:type="dcterms:W3CDTF">2011-08-01T06:04:30Z</dcterms:modified>
  <cp:revision>1</cp:revision>
  <dc:title>Grey Blue Pixel Tech Computer Presentation</dc:title>
</cp:coreProperties>
</file>